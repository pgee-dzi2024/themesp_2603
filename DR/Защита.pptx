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66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8" r:id="rId11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69438" autoAdjust="0"/>
  </p:normalViewPr>
  <p:slideViewPr>
    <p:cSldViewPr snapToGrid="0">
      <p:cViewPr varScale="1">
        <p:scale>
          <a:sx n="79" d="100"/>
          <a:sy n="79" d="100"/>
        </p:scale>
        <p:origin x="17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C3DB36-91E0-4F46-9FF5-869029B918A9}" type="datetimeFigureOut">
              <a:rPr lang="bg-BG" smtClean="0"/>
              <a:t>7.5.2026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F43602-4D36-4E0D-A117-C8671B9BDE6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06403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Уважаема</a:t>
            </a:r>
            <a:r>
              <a:rPr lang="bg-BG" baseline="0" dirty="0" smtClean="0"/>
              <a:t> г-жо Директор, Уважаема комисия </a:t>
            </a:r>
          </a:p>
          <a:p>
            <a:r>
              <a:rPr lang="bg-BG" baseline="0" dirty="0" smtClean="0"/>
              <a:t>Казвам се Атанаска Мусколиева </a:t>
            </a:r>
          </a:p>
          <a:p>
            <a:r>
              <a:rPr lang="bg-BG" sz="12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Тема:</a:t>
            </a:r>
            <a:r>
              <a:rPr lang="bg-BG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Отдалечено управление на осветление/уреди през Уеб. 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F43602-4D36-4E0D-A117-C8671B9BDE66}" type="slidenum">
              <a:rPr lang="bg-BG" smtClean="0"/>
              <a:t>1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040240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2000" b="1" dirty="0" smtClean="0"/>
              <a:t>Обект на изследване са системите за домашна автоматизация</a:t>
            </a:r>
            <a:r>
              <a:rPr lang="ru-RU" sz="2000" dirty="0" smtClean="0"/>
              <a:t>, които позволяват управление на различни устройства в дома с цел удобство и ефективност.</a:t>
            </a:r>
          </a:p>
          <a:p>
            <a:r>
              <a:rPr lang="ru-RU" sz="2000" b="1" dirty="0" smtClean="0"/>
              <a:t>Предмет на разработката е проектирането и реализацията на уеб базирана система за управление на устройства чрез микроконтролер</a:t>
            </a:r>
            <a:r>
              <a:rPr lang="ru-RU" sz="2000" dirty="0" smtClean="0"/>
              <a:t>, като чрез уеб интерфейс потребителят може да контролира устройствата дистанционно.</a:t>
            </a:r>
          </a:p>
          <a:p>
            <a:endParaRPr lang="bg-BG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F43602-4D36-4E0D-A117-C8671B9BDE66}" type="slidenum">
              <a:rPr lang="bg-BG" smtClean="0"/>
              <a:t>2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196409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600" b="1" dirty="0" smtClean="0"/>
              <a:t>Основна цел</a:t>
            </a:r>
          </a:p>
          <a:p>
            <a:endParaRPr lang="ru-RU" sz="1600" b="1" dirty="0" smtClean="0"/>
          </a:p>
          <a:p>
            <a:r>
              <a:rPr lang="ru-RU" sz="1600" dirty="0" smtClean="0"/>
              <a:t>Основната цел на настоящия проект е разработването и реализирането на функциониращ прототип на система за дистанционно управление на устройства, която да осигурява ефективно изпълнение на управляващи команди в реално време. Системата следва да гарантира висока скорост на реакция при взаимодействие с потребителя, както и да предоставя надеждна и актуална информация относно текущото състояние на управляваните устройства.</a:t>
            </a:r>
          </a:p>
          <a:p>
            <a:endParaRPr lang="bg-BG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F43602-4D36-4E0D-A117-C8671B9BDE66}" type="slidenum">
              <a:rPr lang="bg-BG" smtClean="0"/>
              <a:t>3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198111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 smtClean="0"/>
              <a:t>Цел и задачи на проекта</a:t>
            </a:r>
          </a:p>
          <a:p>
            <a:endParaRPr lang="ru-RU" b="1" dirty="0" smtClean="0"/>
          </a:p>
          <a:p>
            <a:r>
              <a:rPr lang="ru-RU" dirty="0" smtClean="0"/>
              <a:t>Основната цел на настоящия проект е разработването и реализирането на функциониращ прототип на система за дистанционно управление на устройства, която да осигурява ефективно изпълнение на управляващи команди в реално време. Системата следва да гарантира висока скорост на реакция при взаимодействие с потребителя, както и да предоставя надеждна и актуална информация относно текущото състояние на управляваните устройства.</a:t>
            </a:r>
          </a:p>
          <a:p>
            <a:r>
              <a:rPr lang="ru-RU" dirty="0" smtClean="0"/>
              <a:t>За постигане на поставената цел са изпълнени следните основни задачи: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smtClean="0"/>
              <a:t>извършен е анализ и избор на подходящ хардуер, съобразен с изискванията на системата;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smtClean="0"/>
              <a:t>разработен е програмен код за микроконтролер, осигуряващ управление и комуникация с устройствата;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smtClean="0"/>
              <a:t>изградена е сървърна част, отговаряща за обработка на данни и обмен на информация;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smtClean="0"/>
              <a:t>създаден е потребителски интерфейс за управление и визуализация на състоянието на устройствата;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smtClean="0"/>
              <a:t>проведено е тестване на системата и е извършен анализ на получените резултати.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F43602-4D36-4E0D-A117-C8671B9BDE66}" type="slidenum">
              <a:rPr lang="bg-BG" smtClean="0"/>
              <a:t>4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519567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Системата е изградена по клиент–сървър модел, в който клиентът е уеб браузърът, сървърът обработва заявките, а хардуерната част изпълнява командите. Потребителят изпраща заявки чрез уеб интерфейс, сървърът ги обработва и чрез сериен интерфейс ги предава към микроконтролер Arduino, който управлява устройствата. Комуникацията между сървъра и хардуера се осъществява чрез сериен канал, а обменът на данни с клиента става чрез REST API.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F43602-4D36-4E0D-A117-C8671B9BDE66}" type="slidenum">
              <a:rPr lang="bg-BG" smtClean="0"/>
              <a:t>5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906086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 проекта са използвани няколко основни технологии, които работят заедно като цялостна система.</a:t>
            </a:r>
          </a:p>
          <a:p>
            <a:r>
              <a:rPr lang="ru-RU" dirty="0" smtClean="0"/>
              <a:t>Микроконтролерът Arduino служи за управление на физическите устройства. Той изпълнява командите, които получава от сървъра, и може да връща информация за състоянието им.</a:t>
            </a:r>
          </a:p>
          <a:p>
            <a:r>
              <a:rPr lang="ru-RU" dirty="0" smtClean="0"/>
              <a:t>Сървърната част е реализирана с Python и Django. Тя приема заявки от потребителя, обработва ги и ги изпраща към хардуера. Освен това координира комуникацията между всички части на системата.</a:t>
            </a:r>
          </a:p>
          <a:p>
            <a:r>
              <a:rPr lang="ru-RU" dirty="0" smtClean="0"/>
              <a:t>Потребителският интерфейс е разработен с Vue.js. Чрез него потребителят може лесно да управлява устройствата и да вижда тяхното състояние в реално време.</a:t>
            </a:r>
          </a:p>
          <a:p>
            <a:r>
              <a:rPr lang="ru-RU" dirty="0" smtClean="0"/>
              <a:t>Комуникацията между клиента, сървъра и хардуера се осъществява чрез REST API, като данните се обменят във формат JSON. Това позволява бърза, структурирана и лесна комуникация между отделните части на системата.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F43602-4D36-4E0D-A117-C8671B9BDE66}" type="slidenum">
              <a:rPr lang="bg-BG" smtClean="0"/>
              <a:t>6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624662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800" dirty="0" smtClean="0"/>
              <a:t>Първо, потребителят изпраща команда чрез уеб интерфейса, например натиска бутон за включване или изключване на устройство.</a:t>
            </a:r>
          </a:p>
          <a:p>
            <a:r>
              <a:rPr lang="ru-RU" sz="1800" dirty="0" smtClean="0"/>
              <a:t>След това сървърът приема тази заявка и я обработва. Той проверява какво действие трябва да се извърши и я преобразува в команда, която може да бъде изпратена към хардуера.</a:t>
            </a:r>
          </a:p>
          <a:p>
            <a:r>
              <a:rPr lang="ru-RU" sz="1800" dirty="0" smtClean="0"/>
              <a:t>Накрая микроконтролерът Arduino получава тази команда, изпълнява съответното действие върху устройството и след това връща информация за текущото състояние обратно към сървъра, който я показва в интерфейса на потребителя.</a:t>
            </a:r>
          </a:p>
          <a:p>
            <a:endParaRPr lang="bg-BG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F43602-4D36-4E0D-A117-C8671B9BDE66}" type="slidenum">
              <a:rPr lang="bg-BG" smtClean="0"/>
              <a:t>7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8332691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800" dirty="0" smtClean="0"/>
              <a:t>Разработеният уеб интерфейс позволява на потребителя да управлява системата по лесен и интуитивен начин. Той съдържа бутони, чрез които се изпращат команди за включване или изключване на устройства.</a:t>
            </a:r>
          </a:p>
          <a:p>
            <a:r>
              <a:rPr lang="ru-RU" sz="1800" dirty="0" smtClean="0"/>
              <a:t>Освен това има визуална индикация, която показва текущото състояние на устройствата в реално време – например дали дадено устройство е включено или изключено.</a:t>
            </a:r>
          </a:p>
          <a:p>
            <a:r>
              <a:rPr lang="ru-RU" sz="1800" dirty="0" smtClean="0"/>
              <a:t>Интерфейсът поддържа и динамично обновяване на данните, което означава, че информацията се актуализира автоматично, без да е необходимо презареждане на страницата. Това прави работата по-бърза, по-удобна и по-интерактивна за потребителя.</a:t>
            </a:r>
          </a:p>
          <a:p>
            <a:endParaRPr lang="bg-BG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F43602-4D36-4E0D-A117-C8671B9BDE66}" type="slidenum">
              <a:rPr lang="bg-BG" smtClean="0"/>
              <a:t>8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920873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 smtClean="0"/>
              <a:t>Системата е тествана при различни условия – нормална работа, прекъсване на връзката и въвеждане на невалидни команди. При всички случаи тя се държи стабилно. Работи коректно при нормални условия, възстановява се след прекъсване на връзката и правилно разпознава грешни команди без да блокира. Това показва, че системата е надеждна и устойчива на грешки.</a:t>
            </a:r>
          </a:p>
          <a:p>
            <a:endParaRPr lang="bg-BG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F43602-4D36-4E0D-A117-C8671B9BDE66}" type="slidenum">
              <a:rPr lang="bg-BG" smtClean="0"/>
              <a:t>9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069362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Благодаря</a:t>
            </a:r>
            <a:r>
              <a:rPr lang="bg-BG" baseline="0" dirty="0" smtClean="0"/>
              <a:t> за вниманието ако имате въпроси може да ми ги зададете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F43602-4D36-4E0D-A117-C8671B9BDE66}" type="slidenum">
              <a:rPr lang="bg-BG" smtClean="0"/>
              <a:t>10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38949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195FB14-1BE7-4982-B46C-E7485DB0F9DE}" type="datetimeFigureOut">
              <a:rPr lang="bg-BG" smtClean="0"/>
              <a:t>7.5.2026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A2321B2-5387-4A90-A685-69D9976011C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81953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5FB14-1BE7-4982-B46C-E7485DB0F9DE}" type="datetimeFigureOut">
              <a:rPr lang="bg-BG" smtClean="0"/>
              <a:t>7.5.2026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321B2-5387-4A90-A685-69D9976011C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58873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195FB14-1BE7-4982-B46C-E7485DB0F9DE}" type="datetimeFigureOut">
              <a:rPr lang="bg-BG" smtClean="0"/>
              <a:t>7.5.2026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A2321B2-5387-4A90-A685-69D9976011C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1242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5FB14-1BE7-4982-B46C-E7485DB0F9DE}" type="datetimeFigureOut">
              <a:rPr lang="bg-BG" smtClean="0"/>
              <a:t>7.5.2026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321B2-5387-4A90-A685-69D9976011C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18900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5FB14-1BE7-4982-B46C-E7485DB0F9DE}" type="datetimeFigureOut">
              <a:rPr lang="bg-BG" smtClean="0"/>
              <a:t>7.5.2026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321B2-5387-4A90-A685-69D9976011C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00406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5FB14-1BE7-4982-B46C-E7485DB0F9DE}" type="datetimeFigureOut">
              <a:rPr lang="bg-BG" smtClean="0"/>
              <a:t>7.5.2026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321B2-5387-4A90-A685-69D9976011C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13512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5FB14-1BE7-4982-B46C-E7485DB0F9DE}" type="datetimeFigureOut">
              <a:rPr lang="bg-BG" smtClean="0"/>
              <a:t>7.5.2026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321B2-5387-4A90-A685-69D9976011C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08897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5FB14-1BE7-4982-B46C-E7485DB0F9DE}" type="datetimeFigureOut">
              <a:rPr lang="bg-BG" smtClean="0"/>
              <a:t>7.5.2026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321B2-5387-4A90-A685-69D9976011C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68813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5FB14-1BE7-4982-B46C-E7485DB0F9DE}" type="datetimeFigureOut">
              <a:rPr lang="bg-BG" smtClean="0"/>
              <a:t>7.5.2026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321B2-5387-4A90-A685-69D9976011C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8061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5FB14-1BE7-4982-B46C-E7485DB0F9DE}" type="datetimeFigureOut">
              <a:rPr lang="bg-BG" smtClean="0"/>
              <a:t>7.5.2026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321B2-5387-4A90-A685-69D9976011C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06094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195FB14-1BE7-4982-B46C-E7485DB0F9DE}" type="datetimeFigureOut">
              <a:rPr lang="bg-BG" smtClean="0"/>
              <a:t>7.5.2026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A2321B2-5387-4A90-A685-69D9976011C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43731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195FB14-1BE7-4982-B46C-E7485DB0F9DE}" type="datetimeFigureOut">
              <a:rPr lang="bg-BG" smtClean="0"/>
              <a:t>7.5.2026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A2321B2-5387-4A90-A685-69D9976011CB}" type="slidenum">
              <a:rPr lang="bg-BG" smtClean="0"/>
              <a:t>‹#›</a:t>
            </a:fld>
            <a:endParaRPr lang="bg-BG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596916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195FB14-1BE7-4982-B46C-E7485DB0F9DE}" type="datetimeFigureOut">
              <a:rPr lang="bg-BG" smtClean="0"/>
              <a:t>7.5.2026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A2321B2-5387-4A90-A685-69D9976011C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244551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5FB14-1BE7-4982-B46C-E7485DB0F9DE}" type="datetimeFigureOut">
              <a:rPr lang="bg-BG" smtClean="0"/>
              <a:t>7.5.2026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321B2-5387-4A90-A685-69D9976011C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017913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5FB14-1BE7-4982-B46C-E7485DB0F9DE}" type="datetimeFigureOut">
              <a:rPr lang="bg-BG" smtClean="0"/>
              <a:t>7.5.2026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321B2-5387-4A90-A685-69D9976011C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958792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5FB14-1BE7-4982-B46C-E7485DB0F9DE}" type="datetimeFigureOut">
              <a:rPr lang="bg-BG" smtClean="0"/>
              <a:t>7.5.2026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321B2-5387-4A90-A685-69D9976011C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044976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195FB14-1BE7-4982-B46C-E7485DB0F9DE}" type="datetimeFigureOut">
              <a:rPr lang="bg-BG" smtClean="0"/>
              <a:t>7.5.2026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A2321B2-5387-4A90-A685-69D9976011C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64746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5FB14-1BE7-4982-B46C-E7485DB0F9DE}" type="datetimeFigureOut">
              <a:rPr lang="bg-BG" smtClean="0"/>
              <a:t>7.5.2026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2321B2-5387-4A90-A685-69D9976011C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794548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5858" y="444389"/>
            <a:ext cx="9696275" cy="1023684"/>
          </a:xfrm>
        </p:spPr>
        <p:txBody>
          <a:bodyPr>
            <a:normAutofit/>
          </a:bodyPr>
          <a:lstStyle/>
          <a:p>
            <a:pPr algn="ctr"/>
            <a:r>
              <a:rPr lang="ru-RU" sz="1200" dirty="0"/>
              <a:t>Държавен изпит за придобиване на трета степен на професионална квалификация – част по теория на професията</a:t>
            </a:r>
            <a:br>
              <a:rPr lang="ru-RU" sz="1200" dirty="0"/>
            </a:br>
            <a:r>
              <a:rPr lang="ru-RU" sz="1200" dirty="0"/>
              <a:t>по професия код 481020   „Системен програмист“</a:t>
            </a:r>
            <a:br>
              <a:rPr lang="ru-RU" sz="1200" dirty="0"/>
            </a:br>
            <a:r>
              <a:rPr lang="ru-RU" sz="1200" dirty="0"/>
              <a:t>специалност код 4810201  „Системно програмиране“</a:t>
            </a:r>
            <a:br>
              <a:rPr lang="ru-RU" sz="1200" dirty="0"/>
            </a:br>
            <a:endParaRPr lang="bg-BG" sz="1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2994638"/>
            <a:ext cx="12008841" cy="3238382"/>
          </a:xfrm>
        </p:spPr>
        <p:txBody>
          <a:bodyPr>
            <a:normAutofit lnSpcReduction="10000"/>
          </a:bodyPr>
          <a:lstStyle/>
          <a:p>
            <a:r>
              <a:rPr lang="ru-RU" sz="2400" dirty="0"/>
              <a:t>Тема: Отдалечено управление на осветление/уреди през Уеб. </a:t>
            </a:r>
            <a:endParaRPr lang="en-US" sz="2400" dirty="0" smtClean="0"/>
          </a:p>
          <a:p>
            <a:endParaRPr lang="en-US" dirty="0"/>
          </a:p>
          <a:p>
            <a:endParaRPr lang="en-US" sz="12800" dirty="0" smtClean="0"/>
          </a:p>
          <a:p>
            <a:endParaRPr lang="en-US" dirty="0"/>
          </a:p>
          <a:p>
            <a:pPr algn="r"/>
            <a:r>
              <a:rPr lang="en-US" dirty="0" smtClean="0"/>
              <a:t>                                                                                                     </a:t>
            </a:r>
            <a:r>
              <a:rPr lang="bg-BG" dirty="0"/>
              <a:t>Д</a:t>
            </a:r>
            <a:r>
              <a:rPr lang="bg-BG" smtClean="0"/>
              <a:t>иломонт</a:t>
            </a:r>
            <a:r>
              <a:rPr lang="en-US" dirty="0" smtClean="0"/>
              <a:t>:</a:t>
            </a:r>
            <a:r>
              <a:rPr lang="bg-BG" dirty="0" smtClean="0"/>
              <a:t>Атанаска Мусколиева</a:t>
            </a:r>
            <a:endParaRPr lang="en-US" dirty="0" smtClean="0"/>
          </a:p>
          <a:p>
            <a:endParaRPr lang="ru-RU" dirty="0"/>
          </a:p>
          <a:p>
            <a:endParaRPr lang="bg-B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685" y="444389"/>
            <a:ext cx="499915" cy="59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188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815" y="731520"/>
            <a:ext cx="6919182" cy="1109472"/>
          </a:xfrm>
        </p:spPr>
        <p:txBody>
          <a:bodyPr>
            <a:normAutofit fontScale="90000"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bg-BG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Обект и предмет на разработката</a:t>
            </a:r>
            <a:r>
              <a:rPr lang="bg-BG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bg-BG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bg-BG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11312" b="11312"/>
          <a:stretch>
            <a:fillRect/>
          </a:stretch>
        </p:blipFill>
        <p:spPr>
          <a:xfrm>
            <a:off x="819912" y="1609344"/>
            <a:ext cx="9170988" cy="4901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282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6188" y="802658"/>
            <a:ext cx="4607653" cy="612397"/>
          </a:xfrm>
        </p:spPr>
        <p:txBody>
          <a:bodyPr>
            <a:normAutofit/>
          </a:bodyPr>
          <a:lstStyle/>
          <a:p>
            <a:pPr algn="ctr"/>
            <a:r>
              <a:rPr lang="bg-BG" sz="2400" dirty="0" smtClean="0"/>
              <a:t>Цел и задачи на проекта  </a:t>
            </a:r>
            <a:endParaRPr lang="bg-BG" sz="24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39841" y="2864142"/>
            <a:ext cx="5170414" cy="3426930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bg-BG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позволява дистанционно управление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bg-BG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осигурява бърза реакция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bg-BG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предоставя информация за състоянието на устройствата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bg-B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endParaRPr lang="bg-BG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66" y="2534743"/>
            <a:ext cx="5610749" cy="3597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605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837" y="417235"/>
            <a:ext cx="3600974" cy="1094064"/>
          </a:xfrm>
        </p:spPr>
        <p:txBody>
          <a:bodyPr/>
          <a:lstStyle/>
          <a:p>
            <a:pPr algn="ctr"/>
            <a:r>
              <a:rPr lang="bg-BG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Основни </a:t>
            </a:r>
            <a:r>
              <a:rPr lang="bg-BG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задачи </a:t>
            </a:r>
            <a:endParaRPr lang="bg-BG" dirty="0"/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1" r="1"/>
          <a:stretch>
            <a:fillRect/>
          </a:stretch>
        </p:blipFill>
        <p:spPr>
          <a:xfrm>
            <a:off x="317500" y="1511300"/>
            <a:ext cx="10493375" cy="486568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2916" y="1635399"/>
            <a:ext cx="7370540" cy="491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181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0953" y="511260"/>
            <a:ext cx="6117672" cy="796954"/>
          </a:xfrm>
        </p:spPr>
        <p:txBody>
          <a:bodyPr/>
          <a:lstStyle/>
          <a:p>
            <a:pPr algn="ctr"/>
            <a:r>
              <a:rPr lang="bg-BG" b="1" dirty="0"/>
              <a:t>Архитектура на системата</a:t>
            </a:r>
            <a:endParaRPr lang="bg-BG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94990" y="2625753"/>
            <a:ext cx="4775434" cy="3653127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bg-BG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клиент (уеб браузър)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bg-BG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сървър (обработка на заявки)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bg-BG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хардуер (изпълнение на команди)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bg-BG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Комуникацията между тях се осъществява чрез сериен интерфейс.</a:t>
            </a:r>
          </a:p>
          <a:p>
            <a:endParaRPr lang="bg-BG" sz="2400" dirty="0"/>
          </a:p>
        </p:txBody>
      </p:sp>
      <p:pic>
        <p:nvPicPr>
          <p:cNvPr id="3074" name="Picture 2" descr="Как работи clock системата на микроконтролера и защо е критична? -  Electronic Evolution"/>
          <p:cNvPicPr>
            <a:picLocks noGrp="1" noChangeAspect="1" noChangeArrowheads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4" r="3864"/>
          <a:stretch>
            <a:fillRect/>
          </a:stretch>
        </p:blipFill>
        <p:spPr bwMode="auto">
          <a:xfrm>
            <a:off x="268288" y="2147888"/>
            <a:ext cx="6216650" cy="447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3512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2929" y="195072"/>
            <a:ext cx="5443896" cy="822037"/>
          </a:xfrm>
        </p:spPr>
        <p:txBody>
          <a:bodyPr/>
          <a:lstStyle/>
          <a:p>
            <a:pPr algn="ctr"/>
            <a:r>
              <a:rPr lang="bg-BG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Използвани технологии</a:t>
            </a:r>
            <a:endParaRPr lang="bg-BG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424" y="1309717"/>
            <a:ext cx="7749540" cy="516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179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24839" y="138698"/>
            <a:ext cx="4154648" cy="750116"/>
          </a:xfrm>
        </p:spPr>
        <p:txBody>
          <a:bodyPr/>
          <a:lstStyle/>
          <a:p>
            <a:pPr algn="ctr"/>
            <a:r>
              <a:rPr lang="bg-BG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Принцип на работа</a:t>
            </a:r>
            <a:endParaRPr lang="bg-BG" dirty="0"/>
          </a:p>
        </p:txBody>
      </p:sp>
      <p:pic>
        <p:nvPicPr>
          <p:cNvPr id="9" name="Picture Placeholder 8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1246" b="1246"/>
          <a:stretch>
            <a:fillRect/>
          </a:stretch>
        </p:blipFill>
        <p:spPr>
          <a:xfrm>
            <a:off x="268288" y="1031875"/>
            <a:ext cx="11214100" cy="546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526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6392" y="499872"/>
            <a:ext cx="5885688" cy="612648"/>
          </a:xfrm>
        </p:spPr>
        <p:txBody>
          <a:bodyPr/>
          <a:lstStyle/>
          <a:p>
            <a:pPr algn="ctr"/>
            <a:r>
              <a:rPr lang="bg-BG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Потребителски интерфейс</a:t>
            </a:r>
            <a:endParaRPr lang="bg-BG" dirty="0"/>
          </a:p>
        </p:txBody>
      </p:sp>
      <p:pic>
        <p:nvPicPr>
          <p:cNvPr id="6" name="Picture Placeholder 5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3278" b="3278"/>
          <a:stretch>
            <a:fillRect/>
          </a:stretch>
        </p:blipFill>
        <p:spPr>
          <a:xfrm>
            <a:off x="365125" y="2266950"/>
            <a:ext cx="6694488" cy="4170363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52360" y="2795015"/>
            <a:ext cx="4739640" cy="3410713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bg-BG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бутони за управление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bg-BG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визуална индикация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bg-BG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динамично обновяване без презареждане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bg-BG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Това осигурява лесна и удобна работа.</a:t>
            </a:r>
          </a:p>
          <a:p>
            <a:endParaRPr lang="bg-BG" sz="2000" dirty="0"/>
          </a:p>
        </p:txBody>
      </p:sp>
      <p:sp>
        <p:nvSpPr>
          <p:cNvPr id="5" name="AutoShape 2" descr="Интерфейс за управление на интелигентен дом"/>
          <p:cNvSpPr>
            <a:spLocks noChangeAspect="1" noChangeArrowheads="1"/>
          </p:cNvSpPr>
          <p:nvPr/>
        </p:nvSpPr>
        <p:spPr bwMode="auto">
          <a:xfrm>
            <a:off x="6437376" y="-276574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85685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25724" y="512064"/>
            <a:ext cx="6556248" cy="722376"/>
          </a:xfrm>
        </p:spPr>
        <p:txBody>
          <a:bodyPr/>
          <a:lstStyle/>
          <a:p>
            <a:pPr algn="ctr"/>
            <a:r>
              <a:rPr lang="bg-BG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Тестване и резултати</a:t>
            </a:r>
            <a:endParaRPr lang="bg-BG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06056" y="2474977"/>
            <a:ext cx="4751832" cy="4011168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bg-BG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нормална работа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bg-BG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прекъсване на връзката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bg-BG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невалидни команди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bg-BG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Резултатите показват стабилност и надеждност.</a:t>
            </a:r>
          </a:p>
          <a:p>
            <a:endParaRPr lang="bg-BG" sz="2800" dirty="0"/>
          </a:p>
        </p:txBody>
      </p:sp>
      <p:pic>
        <p:nvPicPr>
          <p:cNvPr id="5" name="Картина 2"/>
          <p:cNvPicPr>
            <a:picLocks noGrp="1"/>
          </p:cNvPicPr>
          <p:nvPr>
            <p:ph type="pic" idx="1"/>
          </p:nvPr>
        </p:nvPicPr>
        <p:blipFill>
          <a:blip r:embed="rId3"/>
          <a:srcRect l="17940" r="17940"/>
          <a:stretch>
            <a:fillRect/>
          </a:stretch>
        </p:blipFill>
        <p:spPr>
          <a:xfrm>
            <a:off x="741363" y="2157413"/>
            <a:ext cx="5976937" cy="4524375"/>
          </a:xfrm>
          <a:prstGeom prst="rect">
            <a:avLst/>
          </a:prstGeom>
          <a:ln>
            <a:solidFill>
              <a:sysClr val="windowText" lastClr="000000"/>
            </a:solidFill>
          </a:ln>
        </p:spPr>
      </p:pic>
    </p:spTree>
    <p:extLst>
      <p:ext uri="{BB962C8B-B14F-4D97-AF65-F5344CB8AC3E}">
        <p14:creationId xmlns:p14="http://schemas.microsoft.com/office/powerpoint/2010/main" val="3205689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52" y="764372"/>
            <a:ext cx="11128248" cy="5319435"/>
          </a:xfrm>
        </p:spPr>
        <p:txBody>
          <a:bodyPr/>
          <a:lstStyle/>
          <a:p>
            <a:pPr algn="ctr"/>
            <a:r>
              <a:rPr lang="bg-BG" dirty="0" smtClean="0"/>
              <a:t>Благодаря за вниманието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110059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209</TotalTime>
  <Words>864</Words>
  <Application>Microsoft Office PowerPoint</Application>
  <PresentationFormat>Widescreen</PresentationFormat>
  <Paragraphs>72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Century Gothic</vt:lpstr>
      <vt:lpstr>Times New Roman</vt:lpstr>
      <vt:lpstr>Vapor Trail</vt:lpstr>
      <vt:lpstr>Държавен изпит за придобиване на трета степен на професионална квалификация – част по теория на професията по професия код 481020   „Системен програмист“ специалност код 4810201  „Системно програмиране“ </vt:lpstr>
      <vt:lpstr>Обект и предмет на разработката </vt:lpstr>
      <vt:lpstr>Цел и задачи на проекта  </vt:lpstr>
      <vt:lpstr>Основни задачи </vt:lpstr>
      <vt:lpstr>Архитектура на системата</vt:lpstr>
      <vt:lpstr>Използвани технологии</vt:lpstr>
      <vt:lpstr>Принцип на работа</vt:lpstr>
      <vt:lpstr>Потребителски интерфейс</vt:lpstr>
      <vt:lpstr>Тестване и резултати</vt:lpstr>
      <vt:lpstr>Благодаря за вниманието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Държавен изпит за придобиване на трета степен на професионална квалификация – част по теория на професията по професия код 481020   „Системен програмист“ специалност код 4810201  „Системно програмиране“</dc:title>
  <dc:creator>Admin</dc:creator>
  <cp:lastModifiedBy>Admin</cp:lastModifiedBy>
  <cp:revision>19</cp:revision>
  <dcterms:created xsi:type="dcterms:W3CDTF">2026-04-30T06:12:09Z</dcterms:created>
  <dcterms:modified xsi:type="dcterms:W3CDTF">2026-05-07T07:25:29Z</dcterms:modified>
</cp:coreProperties>
</file>